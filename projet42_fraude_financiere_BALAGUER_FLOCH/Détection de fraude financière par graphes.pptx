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ed Hat Display Bold" charset="1" panose="02010803040201060303"/>
      <p:regular r:id="rId15"/>
    </p:embeddedFont>
    <p:embeddedFont>
      <p:font typeface="Inter Medium" charset="1" panose="02000503000000020004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5082087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0">
            <a:off x="647494" y="6924254"/>
            <a:ext cx="3627156" cy="2535935"/>
          </a:xfrm>
          <a:custGeom>
            <a:avLst/>
            <a:gdLst/>
            <a:ahLst/>
            <a:cxnLst/>
            <a:rect r="r" b="b" t="t" l="l"/>
            <a:pathLst>
              <a:path h="2535935" w="3627156">
                <a:moveTo>
                  <a:pt x="0" y="0"/>
                </a:moveTo>
                <a:lnTo>
                  <a:pt x="3627156" y="0"/>
                </a:lnTo>
                <a:lnTo>
                  <a:pt x="3627156" y="2535935"/>
                </a:lnTo>
                <a:lnTo>
                  <a:pt x="0" y="253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37087" y="4125555"/>
            <a:ext cx="12213826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DÉT</a:t>
            </a:r>
            <a:r>
              <a:rPr lang="en-US" b="true" sz="69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ECTION DE FRAUDE FINANCIÈRE PAR GRAPHES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48872" y="3455630"/>
            <a:ext cx="97902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74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INTELLIGENCE ARTIFICIELLE FINANCE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94170" y="9051607"/>
            <a:ext cx="669966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JULES BALAGUER - ANAÏS FLOCH - ING4 FI GR1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9005" y="965176"/>
            <a:ext cx="572999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SOMMAIRE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9626" y="3629000"/>
            <a:ext cx="617700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LES FRAUDES FINANCIERES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64956" y="3167944"/>
            <a:ext cx="1512662" cy="151266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941782" y="3717583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9626" y="5446076"/>
            <a:ext cx="860679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ILP (PROGRAMMATION LOGIQUE INDUCTIVE)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64956" y="5054553"/>
            <a:ext cx="1512662" cy="151266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941782" y="5604191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9626" y="7471750"/>
            <a:ext cx="396810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NOTRE PROJET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564956" y="6941161"/>
            <a:ext cx="1512662" cy="15126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941782" y="7490800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3229170" y="-17857"/>
            <a:ext cx="3638179" cy="4321811"/>
          </a:xfrm>
          <a:custGeom>
            <a:avLst/>
            <a:gdLst/>
            <a:ahLst/>
            <a:cxnLst/>
            <a:rect r="r" b="b" t="t" l="l"/>
            <a:pathLst>
              <a:path h="4321811" w="3638179">
                <a:moveTo>
                  <a:pt x="0" y="0"/>
                </a:moveTo>
                <a:lnTo>
                  <a:pt x="3638179" y="0"/>
                </a:lnTo>
                <a:lnTo>
                  <a:pt x="3638179" y="4321811"/>
                </a:lnTo>
                <a:lnTo>
                  <a:pt x="0" y="432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153333"/>
            <a:ext cx="1059071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LES FRAUDES FINANCIÈRES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092157"/>
            <a:ext cx="10590710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Fraudes transactionnelles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Fraude organisée en réseau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Blanchiment d’argent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126867" y="8877097"/>
            <a:ext cx="113243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4195" y="3855814"/>
            <a:ext cx="4238481" cy="3182714"/>
          </a:xfrm>
          <a:custGeom>
            <a:avLst/>
            <a:gdLst/>
            <a:ahLst/>
            <a:cxnLst/>
            <a:rect r="r" b="b" t="t" l="l"/>
            <a:pathLst>
              <a:path h="3182714" w="4238481">
                <a:moveTo>
                  <a:pt x="0" y="0"/>
                </a:moveTo>
                <a:lnTo>
                  <a:pt x="4238480" y="0"/>
                </a:lnTo>
                <a:lnTo>
                  <a:pt x="4238480" y="3182714"/>
                </a:lnTo>
                <a:lnTo>
                  <a:pt x="0" y="3182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6019" y="1878077"/>
            <a:ext cx="16143281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POURQUOI EST-CE UN PROBLÈME MAJEUR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5371" y="3893232"/>
            <a:ext cx="674091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Coûts économiques élevés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5371" y="5370971"/>
            <a:ext cx="835025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Contraintes réglementaires fortes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75371" y="6850521"/>
            <a:ext cx="749825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 et confiance des clients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0116" y="2275146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0116" y="4161754"/>
            <a:ext cx="1512662" cy="15126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10116" y="6048363"/>
            <a:ext cx="1512662" cy="15126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10116" y="7934972"/>
            <a:ext cx="1512662" cy="151266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119517" y="7934972"/>
            <a:ext cx="1655820" cy="1836090"/>
          </a:xfrm>
          <a:custGeom>
            <a:avLst/>
            <a:gdLst/>
            <a:ahLst/>
            <a:cxnLst/>
            <a:rect r="r" b="b" t="t" l="l"/>
            <a:pathLst>
              <a:path h="1836090" w="1655820">
                <a:moveTo>
                  <a:pt x="0" y="0"/>
                </a:moveTo>
                <a:lnTo>
                  <a:pt x="1655820" y="0"/>
                </a:lnTo>
                <a:lnTo>
                  <a:pt x="1655820" y="1836090"/>
                </a:lnTo>
                <a:lnTo>
                  <a:pt x="0" y="1836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0116" y="770726"/>
            <a:ext cx="873407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QUELQUES EXEMPLES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57007" y="3044095"/>
            <a:ext cx="57252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65 milliards de $ de pertes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57007" y="2624442"/>
            <a:ext cx="635108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BERNIE MADOFF – PONZI GÉANT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86942" y="2824784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86942" y="4711393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86942" y="6598002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86942" y="8484610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57007" y="4929475"/>
            <a:ext cx="57252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1,9 milliard d’€ manquant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57007" y="4509821"/>
            <a:ext cx="635108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WIRECARD - FRAUDE COMPTABLE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57007" y="6816083"/>
            <a:ext cx="57252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500 millions d’€/an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57007" y="6396430"/>
            <a:ext cx="861125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ARNAQUES FINANCIÈRES GRAND PUBLIC EN FRANCE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57007" y="8702692"/>
            <a:ext cx="57252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+ de 300 millions d’€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57007" y="8283039"/>
            <a:ext cx="1105288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FRAUDE BANCAIRE ORGANISÉE PAR CARTES BANQUAIRES VOLÉES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660" y="4518517"/>
            <a:ext cx="2617112" cy="1133994"/>
            <a:chOff x="0" y="0"/>
            <a:chExt cx="1406254" cy="609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6254" cy="609330"/>
            </a:xfrm>
            <a:custGeom>
              <a:avLst/>
              <a:gdLst/>
              <a:ahLst/>
              <a:cxnLst/>
              <a:rect r="r" b="b" t="t" l="l"/>
              <a:pathLst>
                <a:path h="609330" w="1406254">
                  <a:moveTo>
                    <a:pt x="703127" y="0"/>
                  </a:moveTo>
                  <a:cubicBezTo>
                    <a:pt x="314801" y="0"/>
                    <a:pt x="0" y="136403"/>
                    <a:pt x="0" y="304665"/>
                  </a:cubicBezTo>
                  <a:cubicBezTo>
                    <a:pt x="0" y="472927"/>
                    <a:pt x="314801" y="609330"/>
                    <a:pt x="703127" y="609330"/>
                  </a:cubicBezTo>
                  <a:cubicBezTo>
                    <a:pt x="1091454" y="609330"/>
                    <a:pt x="1406254" y="472927"/>
                    <a:pt x="1406254" y="304665"/>
                  </a:cubicBezTo>
                  <a:cubicBezTo>
                    <a:pt x="1406254" y="136403"/>
                    <a:pt x="1091454" y="0"/>
                    <a:pt x="7031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1836" y="19025"/>
              <a:ext cx="1142582" cy="53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1660" y="6321411"/>
            <a:ext cx="2617112" cy="1133994"/>
            <a:chOff x="0" y="0"/>
            <a:chExt cx="1406254" cy="6093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6254" cy="609330"/>
            </a:xfrm>
            <a:custGeom>
              <a:avLst/>
              <a:gdLst/>
              <a:ahLst/>
              <a:cxnLst/>
              <a:rect r="r" b="b" t="t" l="l"/>
              <a:pathLst>
                <a:path h="609330" w="1406254">
                  <a:moveTo>
                    <a:pt x="703127" y="0"/>
                  </a:moveTo>
                  <a:cubicBezTo>
                    <a:pt x="314801" y="0"/>
                    <a:pt x="0" y="136403"/>
                    <a:pt x="0" y="304665"/>
                  </a:cubicBezTo>
                  <a:cubicBezTo>
                    <a:pt x="0" y="472927"/>
                    <a:pt x="314801" y="609330"/>
                    <a:pt x="703127" y="609330"/>
                  </a:cubicBezTo>
                  <a:cubicBezTo>
                    <a:pt x="1091454" y="609330"/>
                    <a:pt x="1406254" y="472927"/>
                    <a:pt x="1406254" y="304665"/>
                  </a:cubicBezTo>
                  <a:cubicBezTo>
                    <a:pt x="1406254" y="136403"/>
                    <a:pt x="1091454" y="0"/>
                    <a:pt x="7031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1836" y="19025"/>
              <a:ext cx="1142582" cy="53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1660" y="8124306"/>
            <a:ext cx="2617112" cy="1133994"/>
            <a:chOff x="0" y="0"/>
            <a:chExt cx="1406254" cy="6093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6254" cy="609330"/>
            </a:xfrm>
            <a:custGeom>
              <a:avLst/>
              <a:gdLst/>
              <a:ahLst/>
              <a:cxnLst/>
              <a:rect r="r" b="b" t="t" l="l"/>
              <a:pathLst>
                <a:path h="609330" w="1406254">
                  <a:moveTo>
                    <a:pt x="703127" y="0"/>
                  </a:moveTo>
                  <a:cubicBezTo>
                    <a:pt x="314801" y="0"/>
                    <a:pt x="0" y="136403"/>
                    <a:pt x="0" y="304665"/>
                  </a:cubicBezTo>
                  <a:cubicBezTo>
                    <a:pt x="0" y="472927"/>
                    <a:pt x="314801" y="609330"/>
                    <a:pt x="703127" y="609330"/>
                  </a:cubicBezTo>
                  <a:cubicBezTo>
                    <a:pt x="1091454" y="609330"/>
                    <a:pt x="1406254" y="472927"/>
                    <a:pt x="1406254" y="304665"/>
                  </a:cubicBezTo>
                  <a:cubicBezTo>
                    <a:pt x="1406254" y="136403"/>
                    <a:pt x="1091454" y="0"/>
                    <a:pt x="7031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1836" y="19025"/>
              <a:ext cx="1142582" cy="53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84772" y="6895743"/>
            <a:ext cx="2362557" cy="2362557"/>
          </a:xfrm>
          <a:custGeom>
            <a:avLst/>
            <a:gdLst/>
            <a:ahLst/>
            <a:cxnLst/>
            <a:rect r="r" b="b" t="t" l="l"/>
            <a:pathLst>
              <a:path h="2362557" w="2362557">
                <a:moveTo>
                  <a:pt x="0" y="0"/>
                </a:moveTo>
                <a:lnTo>
                  <a:pt x="2362558" y="0"/>
                </a:lnTo>
                <a:lnTo>
                  <a:pt x="2362558" y="2362557"/>
                </a:lnTo>
                <a:lnTo>
                  <a:pt x="0" y="2362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1859" y="1727228"/>
            <a:ext cx="1293293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INDUCTIVE LOGIC PROGRAMMING (ILP)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8112" y="2591591"/>
            <a:ext cx="153680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Approche d’IA qui consiste à apprendre automatiquement un programme logiques à partir d’exemples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81616" y="4193339"/>
            <a:ext cx="8703178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Exemples positifs / négatifs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(ex : transaction frauduleuse / non frauduleuse)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Connaissance du domaine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(relations entre comptes, transactions, montants, etc.)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1779" y="4887077"/>
            <a:ext cx="15368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ENTREES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81616" y="6549318"/>
            <a:ext cx="87031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Recherche de règles logiques qui expliquent les exemples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2068" y="6689971"/>
            <a:ext cx="2216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APPRENTISSAGE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11779" y="8492865"/>
            <a:ext cx="15368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SORTIE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81616" y="8492865"/>
            <a:ext cx="572529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Programme logique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3247" y="4112151"/>
            <a:ext cx="2345607" cy="2461992"/>
          </a:xfrm>
          <a:custGeom>
            <a:avLst/>
            <a:gdLst/>
            <a:ahLst/>
            <a:cxnLst/>
            <a:rect r="r" b="b" t="t" l="l"/>
            <a:pathLst>
              <a:path h="2461992" w="2345607">
                <a:moveTo>
                  <a:pt x="0" y="0"/>
                </a:moveTo>
                <a:lnTo>
                  <a:pt x="2345607" y="0"/>
                </a:lnTo>
                <a:lnTo>
                  <a:pt x="2345607" y="2461991"/>
                </a:lnTo>
                <a:lnTo>
                  <a:pt x="0" y="2461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7268"/>
            <a:ext cx="999401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LES 6 ÉTAPES DE L’ILP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28520"/>
            <a:ext cx="5180851" cy="99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2806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Etape 1 :</a:t>
            </a:r>
          </a:p>
          <a:p>
            <a:pPr algn="just" marL="605989" indent="-302994" lvl="1">
              <a:lnSpc>
                <a:spcPts val="3929"/>
              </a:lnSpc>
              <a:spcBef>
                <a:spcPct val="0"/>
              </a:spcBef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Choisir un exemple positif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18670"/>
            <a:ext cx="11646396" cy="99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2806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Etape 2 :</a:t>
            </a:r>
          </a:p>
          <a:p>
            <a:pPr algn="just" marL="605989" indent="-302994" lvl="1">
              <a:lnSpc>
                <a:spcPts val="3929"/>
              </a:lnSpc>
              <a:spcBef>
                <a:spcPct val="0"/>
              </a:spcBef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Elle rajoute toutes les caractéristiques vraies pour cette exemple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07857"/>
            <a:ext cx="11646396" cy="14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2806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Etape 3 :</a:t>
            </a:r>
          </a:p>
          <a:p>
            <a:pPr algn="just" marL="605989" indent="-302994" lvl="1">
              <a:lnSpc>
                <a:spcPts val="3929"/>
              </a:lnSpc>
              <a:spcBef>
                <a:spcPct val="0"/>
              </a:spcBef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Elle retire ou remplace des caractéristiques et elle remplace des constantes par des variables → généralisation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96093"/>
            <a:ext cx="11646396" cy="14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2806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Etape 4 :</a:t>
            </a:r>
          </a:p>
          <a:p>
            <a:pPr algn="just" marL="605989" indent="-302994" lvl="1">
              <a:lnSpc>
                <a:spcPts val="3929"/>
              </a:lnSpc>
              <a:spcBef>
                <a:spcPct val="0"/>
              </a:spcBef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Elle évalue les règles en optimisant la couverture, la précision et la compression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84330"/>
            <a:ext cx="11646396" cy="99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2806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Etape 5 :</a:t>
            </a:r>
          </a:p>
          <a:p>
            <a:pPr algn="just" marL="605989" indent="-302994" lvl="1">
              <a:lnSpc>
                <a:spcPts val="3929"/>
              </a:lnSpc>
              <a:spcBef>
                <a:spcPct val="0"/>
              </a:spcBef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Elle sélectionne la meilleure règle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073517"/>
            <a:ext cx="11646396" cy="14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2806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Etape 6 :</a:t>
            </a:r>
          </a:p>
          <a:p>
            <a:pPr algn="just" marL="605989" indent="-302994" lvl="1">
              <a:lnSpc>
                <a:spcPts val="3929"/>
              </a:lnSpc>
              <a:spcBef>
                <a:spcPct val="0"/>
              </a:spcBef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Elle mets à jour le jeu d’exemple en enlevant tout les positifs compris dans la règle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12569" y="3831557"/>
            <a:ext cx="1750106" cy="1540094"/>
          </a:xfrm>
          <a:custGeom>
            <a:avLst/>
            <a:gdLst/>
            <a:ahLst/>
            <a:cxnLst/>
            <a:rect r="r" b="b" t="t" l="l"/>
            <a:pathLst>
              <a:path h="1540094" w="1750106">
                <a:moveTo>
                  <a:pt x="0" y="0"/>
                </a:moveTo>
                <a:lnTo>
                  <a:pt x="1750106" y="0"/>
                </a:lnTo>
                <a:lnTo>
                  <a:pt x="1750106" y="1540094"/>
                </a:lnTo>
                <a:lnTo>
                  <a:pt x="0" y="154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15276" y="3389966"/>
            <a:ext cx="9772724" cy="4329688"/>
          </a:xfrm>
          <a:custGeom>
            <a:avLst/>
            <a:gdLst/>
            <a:ahLst/>
            <a:cxnLst/>
            <a:rect r="r" b="b" t="t" l="l"/>
            <a:pathLst>
              <a:path h="4329688" w="9772724">
                <a:moveTo>
                  <a:pt x="0" y="0"/>
                </a:moveTo>
                <a:lnTo>
                  <a:pt x="9772724" y="0"/>
                </a:lnTo>
                <a:lnTo>
                  <a:pt x="9772724" y="4329688"/>
                </a:lnTo>
                <a:lnTo>
                  <a:pt x="0" y="432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073441"/>
            <a:ext cx="8116400" cy="4962739"/>
          </a:xfrm>
          <a:custGeom>
            <a:avLst/>
            <a:gdLst/>
            <a:ahLst/>
            <a:cxnLst/>
            <a:rect r="r" b="b" t="t" l="l"/>
            <a:pathLst>
              <a:path h="4962739" w="8116400">
                <a:moveTo>
                  <a:pt x="0" y="0"/>
                </a:moveTo>
                <a:lnTo>
                  <a:pt x="8116400" y="0"/>
                </a:lnTo>
                <a:lnTo>
                  <a:pt x="8116400" y="4962738"/>
                </a:lnTo>
                <a:lnTo>
                  <a:pt x="0" y="496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51585"/>
            <a:ext cx="999401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NOS RÉSULTATS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22518" y="1991926"/>
            <a:ext cx="1044296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218034" y="3745268"/>
            <a:ext cx="13556945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Fraudes détectées grâce à Alpeh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Limites du modèle : doit tourner sur CPU, ne permet donc pas d’avoir une technologie optimale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Pas de reconnaissance à 100%, mais pas de faux positifs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DAG_sAM1Bfs</dc:identifier>
  <dcterms:modified xsi:type="dcterms:W3CDTF">2011-08-01T06:04:30Z</dcterms:modified>
  <cp:revision>1</cp:revision>
  <dc:title>Détection de fraude financière par graphes</dc:title>
</cp:coreProperties>
</file>